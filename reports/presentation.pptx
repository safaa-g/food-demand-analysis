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F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887968" y="219456"/>
            <a:ext cx="2971800" cy="2971800"/>
          </a:xfrm>
          <a:prstGeom prst="ellipse">
            <a:avLst/>
          </a:prstGeom>
          <a:solidFill>
            <a:srgbClr val="1B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4592" y="4846320"/>
            <a:ext cx="1508760" cy="1508760"/>
          </a:xfrm>
          <a:prstGeom prst="ellipse">
            <a:avLst/>
          </a:prstGeom>
          <a:solidFill>
            <a:srgbClr val="1B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50624" y="0"/>
            <a:ext cx="338328" cy="6858000"/>
          </a:xfrm>
          <a:prstGeom prst="rect">
            <a:avLst/>
          </a:prstGeom>
          <a:solidFill>
            <a:srgbClr val="14A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42415"/>
            <a:ext cx="5303520" cy="384048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r" rtl="1"/>
            <a:r>
              <a:rPr sz="1500" b="1" lang="ar-SA">
                <a:solidFill>
                  <a:srgbClr val="F0B14D"/>
                </a:solidFill>
                <a:latin typeface="Aptos"/>
              </a:rPr>
              <a:t>تحليل البيانات • تقرير تنفيذي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691640"/>
            <a:ext cx="7726679" cy="1600200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r" rtl="1"/>
            <a:r>
              <a:rPr sz="3400" b="1" lang="ar-SA">
                <a:solidFill>
                  <a:srgbClr val="FFFFFF"/>
                </a:solidFill>
                <a:latin typeface="Aptos"/>
              </a:rPr>
              <a:t>تحليل الطلب
الأسبوعي على الوجبات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3584448"/>
            <a:ext cx="7223760" cy="594360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r" rtl="1"/>
            <a:r>
              <a:rPr sz="1700" b="0" lang="ar-SA">
                <a:solidFill>
                  <a:srgbClr val="D8E3F0"/>
                </a:solidFill>
                <a:latin typeface="Aptos"/>
              </a:rPr>
              <a:t>رؤى تشغيلية عن الطلب والفئات والعروض، مع مقارنة زمنية لنماذج التنبؤ.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" y="4700016"/>
            <a:ext cx="2103120" cy="119786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825496" y="4809744"/>
            <a:ext cx="41148" cy="969264"/>
          </a:xfrm>
          <a:prstGeom prst="rect">
            <a:avLst/>
          </a:prstGeom>
          <a:solidFill>
            <a:srgbClr val="14A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3544" y="4809744"/>
            <a:ext cx="1764791" cy="256032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r" rtl="1"/>
            <a:r>
              <a:rPr sz="1100" b="0" lang="ar-SA">
                <a:solidFill>
                  <a:srgbClr val="69798D"/>
                </a:solidFill>
                <a:latin typeface="Aptos"/>
              </a:rPr>
              <a:t>سجلات التدريب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5065776"/>
            <a:ext cx="1764791" cy="438912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r" rtl="1"/>
            <a:r>
              <a:rPr sz="2400" b="1" lang="ar-SA">
                <a:solidFill>
                  <a:srgbClr val="101F37"/>
                </a:solidFill>
                <a:latin typeface="Aptos"/>
              </a:rPr>
              <a:t>456,548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544" y="5532120"/>
            <a:ext cx="1764791" cy="201168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r" rtl="1"/>
            <a:r>
              <a:rPr sz="900" b="0" lang="ar-SA">
                <a:solidFill>
                  <a:srgbClr val="69798D"/>
                </a:solidFill>
                <a:latin typeface="Aptos"/>
              </a:rPr>
              <a:t>145 أسبوعاً تاريخياً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72384" y="4700016"/>
            <a:ext cx="2103120" cy="119786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93208" y="4809744"/>
            <a:ext cx="41148" cy="969264"/>
          </a:xfrm>
          <a:prstGeom prst="rect">
            <a:avLst/>
          </a:prstGeom>
          <a:solidFill>
            <a:srgbClr val="F0B1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91256" y="4809744"/>
            <a:ext cx="1764791" cy="256032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r" rtl="1"/>
            <a:r>
              <a:rPr sz="1100" b="0" lang="ar-SA">
                <a:solidFill>
                  <a:srgbClr val="69798D"/>
                </a:solidFill>
                <a:latin typeface="Aptos"/>
              </a:rPr>
              <a:t>سجلات الاختبار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91256" y="5065776"/>
            <a:ext cx="1764791" cy="438912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r" rtl="1"/>
            <a:r>
              <a:rPr sz="2400" b="1" lang="ar-SA">
                <a:solidFill>
                  <a:srgbClr val="101F37"/>
                </a:solidFill>
                <a:latin typeface="Aptos"/>
              </a:rPr>
              <a:t>32,573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91256" y="5532120"/>
            <a:ext cx="1764791" cy="201168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r" rtl="1"/>
            <a:r>
              <a:rPr sz="900" b="0" lang="ar-SA">
                <a:solidFill>
                  <a:srgbClr val="69798D"/>
                </a:solidFill>
                <a:latin typeface="Aptos"/>
              </a:rPr>
              <a:t>10 أسابيع لاحقة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40096" y="4700016"/>
            <a:ext cx="2103120" cy="119786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60920" y="4809744"/>
            <a:ext cx="41148" cy="969264"/>
          </a:xfrm>
          <a:prstGeom prst="rect">
            <a:avLst/>
          </a:prstGeom>
          <a:solidFill>
            <a:srgbClr val="14A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58968" y="4809744"/>
            <a:ext cx="1764791" cy="256032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r" rtl="1"/>
            <a:r>
              <a:rPr sz="1100" b="0" lang="ar-SA">
                <a:solidFill>
                  <a:srgbClr val="69798D"/>
                </a:solidFill>
                <a:latin typeface="Aptos"/>
              </a:rPr>
              <a:t>نقاط الخدمة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58968" y="5065776"/>
            <a:ext cx="1764791" cy="438912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r" rtl="1"/>
            <a:r>
              <a:rPr sz="2400" b="1" lang="ar-SA">
                <a:solidFill>
                  <a:srgbClr val="101F37"/>
                </a:solidFill>
                <a:latin typeface="Aptos"/>
              </a:rPr>
              <a:t>77 مركزاً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58968" y="5532120"/>
            <a:ext cx="1764791" cy="201168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r" rtl="1"/>
            <a:r>
              <a:rPr sz="900" b="0" lang="ar-SA">
                <a:solidFill>
                  <a:srgbClr val="69798D"/>
                </a:solidFill>
                <a:latin typeface="Aptos"/>
              </a:rPr>
              <a:t>51 وجبة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6318504"/>
            <a:ext cx="3840480" cy="201168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r" rtl="1"/>
            <a:r>
              <a:rPr sz="1000" b="0" lang="ar-SA">
                <a:solidFill>
                  <a:srgbClr val="B7C7DC"/>
                </a:solidFill>
                <a:latin typeface="Aptos"/>
              </a:rPr>
              <a:t>عرض تنفيذي  |  7 شرائح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850624" y="0"/>
            <a:ext cx="338328" cy="6858000"/>
          </a:xfrm>
          <a:prstGeom prst="rect">
            <a:avLst/>
          </a:prstGeom>
          <a:solidFill>
            <a:srgbClr val="10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292608"/>
            <a:ext cx="2377440" cy="256032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r" rtl="1"/>
            <a:r>
              <a:rPr sz="1000" b="1" lang="ar-SA">
                <a:solidFill>
                  <a:srgbClr val="14A496"/>
                </a:solidFill>
                <a:latin typeface="Aptos"/>
              </a:rPr>
              <a:t>النتائج والتحليل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30936"/>
            <a:ext cx="10881360" cy="557784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r" rtl="1"/>
            <a:r>
              <a:rPr sz="2500" b="1" lang="ar-SA">
                <a:solidFill>
                  <a:srgbClr val="101F37"/>
                </a:solidFill>
                <a:latin typeface="Aptos"/>
              </a:rPr>
              <a:t>الطلب عبر الزمن: صورة واضحة للموسمية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80160"/>
            <a:ext cx="731520" cy="41148"/>
          </a:xfrm>
          <a:prstGeom prst="rect">
            <a:avLst/>
          </a:prstGeom>
          <a:solidFill>
            <a:srgbClr val="14A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6501384"/>
            <a:ext cx="4572000" cy="182880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r" rtl="1"/>
            <a:r>
              <a:rPr sz="900" b="0" lang="ar-SA">
                <a:solidFill>
                  <a:srgbClr val="69798D"/>
                </a:solidFill>
                <a:latin typeface="Aptos"/>
              </a:rPr>
              <a:t>تحليل الطلب الأسبوعي على الوجبات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502920" cy="228600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ctr"/>
            <a:r>
              <a:rPr sz="900" b="0" lang="en-US">
                <a:solidFill>
                  <a:srgbClr val="69798D"/>
                </a:solidFill>
                <a:latin typeface="Aptos"/>
              </a:rP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9496" y="1618488"/>
            <a:ext cx="5742432" cy="424281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weekly_ord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1691640"/>
            <a:ext cx="5596128" cy="4096512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547104" y="1682496"/>
            <a:ext cx="4617720" cy="72237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762488" y="1938528"/>
            <a:ext cx="118872" cy="118872"/>
          </a:xfrm>
          <a:prstGeom prst="ellipse">
            <a:avLst/>
          </a:prstGeom>
          <a:solidFill>
            <a:srgbClr val="14A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1773936"/>
            <a:ext cx="3959352" cy="566928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r" rtl="1"/>
            <a:r>
              <a:rPr sz="1600" b="0" lang="ar-SA">
                <a:solidFill>
                  <a:srgbClr val="233043"/>
                </a:solidFill>
                <a:latin typeface="Aptos"/>
              </a:rPr>
              <a:t>إجمالي الطلبات المسجلة 119,557,485 طلباً.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47104" y="2514600"/>
            <a:ext cx="4617720" cy="72237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762488" y="2770632"/>
            <a:ext cx="118872" cy="118872"/>
          </a:xfrm>
          <a:prstGeom prst="ellipse">
            <a:avLst/>
          </a:prstGeom>
          <a:solidFill>
            <a:srgbClr val="F0B1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20840" y="2606040"/>
            <a:ext cx="3959352" cy="566928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r" rtl="1"/>
            <a:r>
              <a:rPr sz="1600" b="0" lang="ar-SA">
                <a:solidFill>
                  <a:srgbClr val="233043"/>
                </a:solidFill>
                <a:latin typeface="Aptos"/>
              </a:rPr>
              <a:t>متوسط الطلب في السجل 261.9 طلباً.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47104" y="3346704"/>
            <a:ext cx="4617720" cy="72237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762488" y="3602736"/>
            <a:ext cx="118872" cy="118872"/>
          </a:xfrm>
          <a:prstGeom prst="ellipse">
            <a:avLst/>
          </a:prstGeom>
          <a:solidFill>
            <a:srgbClr val="14A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20840" y="3438144"/>
            <a:ext cx="3959352" cy="566928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r" rtl="1"/>
            <a:r>
              <a:rPr sz="1600" b="0" lang="ar-SA">
                <a:solidFill>
                  <a:srgbClr val="233043"/>
                </a:solidFill>
                <a:latin typeface="Aptos"/>
              </a:rPr>
              <a:t>بلغ الإجمالي ذروته في الأسبوع 48: 1,303,457 طلباً.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47104" y="4178808"/>
            <a:ext cx="4617720" cy="72237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762488" y="4434840"/>
            <a:ext cx="118872" cy="118872"/>
          </a:xfrm>
          <a:prstGeom prst="ellipse">
            <a:avLst/>
          </a:prstGeom>
          <a:solidFill>
            <a:srgbClr val="F0B1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20840" y="4270248"/>
            <a:ext cx="3959352" cy="566928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r" rtl="1"/>
            <a:r>
              <a:rPr sz="1600" b="0" lang="ar-SA">
                <a:solidFill>
                  <a:srgbClr val="233043"/>
                </a:solidFill>
                <a:latin typeface="Aptos"/>
              </a:rPr>
              <a:t>الاختبار يغطي الأسابيع 146–155، بعد فترة التدريب.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56832" y="5294376"/>
            <a:ext cx="4315968" cy="420624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r" rtl="1"/>
            <a:r>
              <a:rPr sz="1100" b="0" lang="ar-SA">
                <a:solidFill>
                  <a:srgbClr val="69798D"/>
                </a:solidFill>
                <a:latin typeface="Aptos"/>
              </a:rPr>
              <a:t>تنبيه: الرسم يصف الطلب التاريخي، ولا يمثل توقعاً للمستقبل.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850624" y="0"/>
            <a:ext cx="338328" cy="6858000"/>
          </a:xfrm>
          <a:prstGeom prst="rect">
            <a:avLst/>
          </a:prstGeom>
          <a:solidFill>
            <a:srgbClr val="10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292608"/>
            <a:ext cx="2377440" cy="256032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r" rtl="1"/>
            <a:r>
              <a:rPr sz="1000" b="1" lang="ar-SA">
                <a:solidFill>
                  <a:srgbClr val="14A496"/>
                </a:solidFill>
                <a:latin typeface="Aptos"/>
              </a:rPr>
              <a:t>النتائج والتحليل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30936"/>
            <a:ext cx="10881360" cy="557784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r" rtl="1"/>
            <a:r>
              <a:rPr sz="2500" b="1" lang="ar-SA">
                <a:solidFill>
                  <a:srgbClr val="101F37"/>
                </a:solidFill>
                <a:latin typeface="Aptos"/>
              </a:rPr>
              <a:t>تركيز الطلب حسب الفئة ومركز التوصيل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80160"/>
            <a:ext cx="731520" cy="41148"/>
          </a:xfrm>
          <a:prstGeom prst="rect">
            <a:avLst/>
          </a:prstGeom>
          <a:solidFill>
            <a:srgbClr val="14A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6501384"/>
            <a:ext cx="4572000" cy="182880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r" rtl="1"/>
            <a:r>
              <a:rPr sz="900" b="0" lang="ar-SA">
                <a:solidFill>
                  <a:srgbClr val="69798D"/>
                </a:solidFill>
                <a:latin typeface="Aptos"/>
              </a:rPr>
              <a:t>تحليل الطلب الأسبوعي على الوجبات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502920" cy="228600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ctr"/>
            <a:r>
              <a:rPr sz="900" b="0" lang="en-US">
                <a:solidFill>
                  <a:srgbClr val="69798D"/>
                </a:solidFill>
                <a:latin typeface="Aptos"/>
              </a:rP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9496" y="1591056"/>
            <a:ext cx="5586984" cy="357530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orders_by_categ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1664208"/>
            <a:ext cx="5440680" cy="34290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181344" y="1591056"/>
            <a:ext cx="5285232" cy="357530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orders_by_cen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496" y="1664208"/>
            <a:ext cx="5138928" cy="342900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49808" y="5266944"/>
            <a:ext cx="3447288" cy="119786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0" y="5376672"/>
            <a:ext cx="41148" cy="969264"/>
          </a:xfrm>
          <a:prstGeom prst="rect">
            <a:avLst/>
          </a:prstGeom>
          <a:solidFill>
            <a:srgbClr val="14A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5376672"/>
            <a:ext cx="3108960" cy="256032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r" rtl="1"/>
            <a:r>
              <a:rPr sz="1100" b="0" lang="ar-SA">
                <a:solidFill>
                  <a:srgbClr val="69798D"/>
                </a:solidFill>
                <a:latin typeface="Aptos"/>
              </a:rPr>
              <a:t>الفئة الأولى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5632704"/>
            <a:ext cx="3108960" cy="438912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r" rtl="1"/>
            <a:r>
              <a:rPr sz="2400" b="1" lang="ar-SA">
                <a:solidFill>
                  <a:srgbClr val="101F37"/>
                </a:solidFill>
                <a:latin typeface="Aptos"/>
              </a:rPr>
              <a:t>Beverages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6099048"/>
            <a:ext cx="3108960" cy="201168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r" rtl="1"/>
            <a:r>
              <a:rPr sz="900" b="0" lang="ar-SA">
                <a:solidFill>
                  <a:srgbClr val="69798D"/>
                </a:solidFill>
                <a:latin typeface="Aptos"/>
              </a:rPr>
              <a:t>33.9% من الطلبات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61688" y="5266944"/>
            <a:ext cx="3447288" cy="119786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26679" y="5376672"/>
            <a:ext cx="41148" cy="969264"/>
          </a:xfrm>
          <a:prstGeom prst="rect">
            <a:avLst/>
          </a:prstGeom>
          <a:solidFill>
            <a:srgbClr val="F0B1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59" y="5376672"/>
            <a:ext cx="3108960" cy="256032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r" rtl="1"/>
            <a:r>
              <a:rPr sz="1100" b="0" lang="ar-SA">
                <a:solidFill>
                  <a:srgbClr val="69798D"/>
                </a:solidFill>
                <a:latin typeface="Aptos"/>
              </a:rPr>
              <a:t>تركيز الفئات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59" y="5632704"/>
            <a:ext cx="3108960" cy="438912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r" rtl="1"/>
            <a:r>
              <a:rPr sz="2400" b="1" lang="ar-SA">
                <a:solidFill>
                  <a:srgbClr val="101F37"/>
                </a:solidFill>
                <a:latin typeface="Aptos"/>
              </a:rPr>
              <a:t>81.4%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59" y="6099048"/>
            <a:ext cx="3108960" cy="201168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r" rtl="1"/>
            <a:r>
              <a:rPr sz="900" b="0" lang="ar-SA">
                <a:solidFill>
                  <a:srgbClr val="69798D"/>
                </a:solidFill>
                <a:latin typeface="Aptos"/>
              </a:rPr>
              <a:t>تجمعها أعلى خمس فئات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73568" y="5266944"/>
            <a:ext cx="3447288" cy="119786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1338560" y="5376672"/>
            <a:ext cx="41148" cy="969264"/>
          </a:xfrm>
          <a:prstGeom prst="rect">
            <a:avLst/>
          </a:prstGeom>
          <a:solidFill>
            <a:srgbClr val="14A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92440" y="5376672"/>
            <a:ext cx="3108960" cy="256032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r" rtl="1"/>
            <a:r>
              <a:rPr sz="1100" b="0" lang="ar-SA">
                <a:solidFill>
                  <a:srgbClr val="69798D"/>
                </a:solidFill>
                <a:latin typeface="Aptos"/>
              </a:rPr>
              <a:t>تركيز المراكز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92440" y="5632704"/>
            <a:ext cx="3108960" cy="438912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r" rtl="1"/>
            <a:r>
              <a:rPr sz="2400" b="1" lang="ar-SA">
                <a:solidFill>
                  <a:srgbClr val="101F37"/>
                </a:solidFill>
                <a:latin typeface="Aptos"/>
              </a:rPr>
              <a:t>80.6%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92440" y="6099048"/>
            <a:ext cx="3108960" cy="201168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r" rtl="1"/>
            <a:r>
              <a:rPr sz="900" b="0" lang="ar-SA">
                <a:solidFill>
                  <a:srgbClr val="69798D"/>
                </a:solidFill>
                <a:latin typeface="Aptos"/>
              </a:rPr>
              <a:t>عبر 51 مركزاً من 77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850624" y="0"/>
            <a:ext cx="338328" cy="6858000"/>
          </a:xfrm>
          <a:prstGeom prst="rect">
            <a:avLst/>
          </a:prstGeom>
          <a:solidFill>
            <a:srgbClr val="10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292608"/>
            <a:ext cx="2377440" cy="256032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r" rtl="1"/>
            <a:r>
              <a:rPr sz="1000" b="1" lang="ar-SA">
                <a:solidFill>
                  <a:srgbClr val="14A496"/>
                </a:solidFill>
                <a:latin typeface="Aptos"/>
              </a:rPr>
              <a:t>النتائج والتحليل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30936"/>
            <a:ext cx="10881360" cy="557784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r" rtl="1"/>
            <a:r>
              <a:rPr sz="2500" b="1" lang="ar-SA">
                <a:solidFill>
                  <a:srgbClr val="101F37"/>
                </a:solidFill>
                <a:latin typeface="Aptos"/>
              </a:rPr>
              <a:t>الأسعار والعروض: ارتباط لا يثبت السببية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80160"/>
            <a:ext cx="731520" cy="41148"/>
          </a:xfrm>
          <a:prstGeom prst="rect">
            <a:avLst/>
          </a:prstGeom>
          <a:solidFill>
            <a:srgbClr val="14A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6501384"/>
            <a:ext cx="4572000" cy="182880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r" rtl="1"/>
            <a:r>
              <a:rPr sz="900" b="0" lang="ar-SA">
                <a:solidFill>
                  <a:srgbClr val="69798D"/>
                </a:solidFill>
                <a:latin typeface="Aptos"/>
              </a:rPr>
              <a:t>تحليل الطلب الأسبوعي على الوجبات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502920" cy="228600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ctr"/>
            <a:r>
              <a:rPr sz="900" b="0" lang="en-US">
                <a:solidFill>
                  <a:srgbClr val="69798D"/>
                </a:solidFill>
                <a:latin typeface="Aptos"/>
              </a:rP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9496" y="1618488"/>
            <a:ext cx="5650992" cy="4206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iscount_and_ord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1691640"/>
            <a:ext cx="5504688" cy="4059936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547104" y="1682496"/>
            <a:ext cx="4617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762488" y="1938528"/>
            <a:ext cx="118872" cy="118872"/>
          </a:xfrm>
          <a:prstGeom prst="ellipse">
            <a:avLst/>
          </a:prstGeom>
          <a:solidFill>
            <a:srgbClr val="14A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1773936"/>
            <a:ext cx="3959352" cy="621792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r" rtl="1"/>
            <a:r>
              <a:rPr sz="1500" b="0" lang="ar-SA">
                <a:solidFill>
                  <a:srgbClr val="233043"/>
                </a:solidFill>
                <a:latin typeface="Aptos"/>
              </a:rPr>
              <a:t>وسيط الطلب مع البريد الترويجي: 338؛ بدونه: 123.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47104" y="2569464"/>
            <a:ext cx="4617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762488" y="2825496"/>
            <a:ext cx="118872" cy="118872"/>
          </a:xfrm>
          <a:prstGeom prst="ellipse">
            <a:avLst/>
          </a:prstGeom>
          <a:solidFill>
            <a:srgbClr val="F0B1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20840" y="2660904"/>
            <a:ext cx="3959352" cy="621792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r" rtl="1"/>
            <a:r>
              <a:rPr sz="1500" b="0" lang="ar-SA">
                <a:solidFill>
                  <a:srgbClr val="233043"/>
                </a:solidFill>
                <a:latin typeface="Aptos"/>
              </a:rPr>
              <a:t>وسيط الطلب عند إبراز الوجبة: 350؛ بدونه: 123.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47104" y="3456432"/>
            <a:ext cx="4617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762488" y="3712464"/>
            <a:ext cx="118872" cy="118872"/>
          </a:xfrm>
          <a:prstGeom prst="ellipse">
            <a:avLst/>
          </a:prstGeom>
          <a:solidFill>
            <a:srgbClr val="14A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20840" y="3547872"/>
            <a:ext cx="3959352" cy="621792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r" rtl="1"/>
            <a:r>
              <a:rPr sz="1500" b="0" lang="ar-SA">
                <a:solidFill>
                  <a:srgbClr val="233043"/>
                </a:solidFill>
                <a:latin typeface="Aptos"/>
              </a:rPr>
              <a:t>ارتباط الخصم بالطلب ضعيف: Spearman ρ = 0.122.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47104" y="4343400"/>
            <a:ext cx="4617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762488" y="4599432"/>
            <a:ext cx="118872" cy="118872"/>
          </a:xfrm>
          <a:prstGeom prst="ellipse">
            <a:avLst/>
          </a:prstGeom>
          <a:solidFill>
            <a:srgbClr val="F0B1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20840" y="4434840"/>
            <a:ext cx="3959352" cy="621792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r" rtl="1"/>
            <a:r>
              <a:rPr sz="1500" b="0" lang="ar-SA">
                <a:solidFill>
                  <a:srgbClr val="233043"/>
                </a:solidFill>
                <a:latin typeface="Aptos"/>
              </a:rPr>
              <a:t>تخصيص العروض غير عشوائي؛ لا ننسب الفرق إلى العرض وحده.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37960" y="5431536"/>
            <a:ext cx="4572000" cy="502920"/>
          </a:xfrm>
          <a:prstGeom prst="roundRect">
            <a:avLst/>
          </a:prstGeom>
          <a:solidFill>
            <a:srgbClr val="E5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11696" y="5513832"/>
            <a:ext cx="4224528" cy="310896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r" rtl="1"/>
            <a:r>
              <a:rPr sz="1200" b="1" lang="ar-SA">
                <a:solidFill>
                  <a:srgbClr val="101F37"/>
                </a:solidFill>
                <a:latin typeface="Aptos"/>
              </a:rPr>
              <a:t>التوصية: قياس أثر العروض بتجربة مضبوطة.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850624" y="0"/>
            <a:ext cx="338328" cy="6858000"/>
          </a:xfrm>
          <a:prstGeom prst="rect">
            <a:avLst/>
          </a:prstGeom>
          <a:solidFill>
            <a:srgbClr val="10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292608"/>
            <a:ext cx="2377440" cy="256032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r" rtl="1"/>
            <a:r>
              <a:rPr sz="1000" b="1" lang="ar-SA">
                <a:solidFill>
                  <a:srgbClr val="14A496"/>
                </a:solidFill>
                <a:latin typeface="Aptos"/>
              </a:rPr>
              <a:t>النتائج والتحليل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30936"/>
            <a:ext cx="10881360" cy="557784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r" rtl="1"/>
            <a:r>
              <a:rPr sz="2500" b="1" lang="ar-SA">
                <a:solidFill>
                  <a:srgbClr val="101F37"/>
                </a:solidFill>
                <a:latin typeface="Aptos"/>
              </a:rPr>
              <a:t>جودة البيانات وحدود التفسير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80160"/>
            <a:ext cx="731520" cy="41148"/>
          </a:xfrm>
          <a:prstGeom prst="rect">
            <a:avLst/>
          </a:prstGeom>
          <a:solidFill>
            <a:srgbClr val="14A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6501384"/>
            <a:ext cx="4572000" cy="182880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r" rtl="1"/>
            <a:r>
              <a:rPr sz="900" b="0" lang="ar-SA">
                <a:solidFill>
                  <a:srgbClr val="69798D"/>
                </a:solidFill>
                <a:latin typeface="Aptos"/>
              </a:rPr>
              <a:t>تحليل الطلب الأسبوعي على الوجبات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502920" cy="228600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ctr"/>
            <a:r>
              <a:rPr sz="900" b="0" lang="en-US">
                <a:solidFill>
                  <a:srgbClr val="69798D"/>
                </a:solidFill>
                <a:latin typeface="Aptos"/>
              </a:rP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8096" y="1673352"/>
            <a:ext cx="3401568" cy="119786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087368" y="1783080"/>
            <a:ext cx="41148" cy="969264"/>
          </a:xfrm>
          <a:prstGeom prst="rect">
            <a:avLst/>
          </a:prstGeom>
          <a:solidFill>
            <a:srgbClr val="14A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1783080"/>
            <a:ext cx="3063240" cy="256032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r" rtl="1"/>
            <a:r>
              <a:rPr sz="1100" b="0" lang="ar-SA">
                <a:solidFill>
                  <a:srgbClr val="69798D"/>
                </a:solidFill>
                <a:latin typeface="Aptos"/>
              </a:rPr>
              <a:t>اكتمال البيانات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039112"/>
            <a:ext cx="3063240" cy="438912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r" rtl="1"/>
            <a:r>
              <a:rPr sz="2400" b="1" lang="ar-SA">
                <a:solidFill>
                  <a:srgbClr val="101F37"/>
                </a:solidFill>
                <a:latin typeface="Aptos"/>
              </a:rPr>
              <a:t>0 مفقود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2505456"/>
            <a:ext cx="3063240" cy="201168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r" rtl="1"/>
            <a:r>
              <a:rPr sz="900" b="0" lang="ar-SA">
                <a:solidFill>
                  <a:srgbClr val="69798D"/>
                </a:solidFill>
                <a:latin typeface="Aptos"/>
              </a:rPr>
              <a:t>بعد ربط بيانات المراجع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673352"/>
            <a:ext cx="3401568" cy="119786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08392" y="1783080"/>
            <a:ext cx="41148" cy="969264"/>
          </a:xfrm>
          <a:prstGeom prst="rect">
            <a:avLst/>
          </a:prstGeom>
          <a:solidFill>
            <a:srgbClr val="F0B1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07992" y="1783080"/>
            <a:ext cx="3063240" cy="256032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r" rtl="1"/>
            <a:r>
              <a:rPr sz="1100" b="0" lang="ar-SA">
                <a:solidFill>
                  <a:srgbClr val="69798D"/>
                </a:solidFill>
                <a:latin typeface="Aptos"/>
              </a:rPr>
              <a:t>سلامة المفاتيح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07992" y="2039112"/>
            <a:ext cx="3063240" cy="438912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r" rtl="1"/>
            <a:r>
              <a:rPr sz="2400" b="1" lang="ar-SA">
                <a:solidFill>
                  <a:srgbClr val="101F37"/>
                </a:solidFill>
                <a:latin typeface="Aptos"/>
              </a:rPr>
              <a:t>0 تكرار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07992" y="2505456"/>
            <a:ext cx="3063240" cy="201168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r" rtl="1"/>
            <a:r>
              <a:rPr sz="900" b="0" lang="ar-SA">
                <a:solidFill>
                  <a:srgbClr val="69798D"/>
                </a:solidFill>
                <a:latin typeface="Aptos"/>
              </a:rPr>
              <a:t>معرّفات ومفاتيح تحليلية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10144" y="1673352"/>
            <a:ext cx="3401568" cy="119786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329416" y="1783080"/>
            <a:ext cx="41148" cy="969264"/>
          </a:xfrm>
          <a:prstGeom prst="rect">
            <a:avLst/>
          </a:prstGeom>
          <a:solidFill>
            <a:srgbClr val="14A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29016" y="1783080"/>
            <a:ext cx="3063240" cy="256032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r" rtl="1"/>
            <a:r>
              <a:rPr sz="1100" b="0" lang="ar-SA">
                <a:solidFill>
                  <a:srgbClr val="69798D"/>
                </a:solidFill>
                <a:latin typeface="Aptos"/>
              </a:rPr>
              <a:t>قرارات التنظيف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29016" y="2039112"/>
            <a:ext cx="3063240" cy="438912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r" rtl="1"/>
            <a:r>
              <a:rPr sz="2400" b="1" lang="ar-SA">
                <a:solidFill>
                  <a:srgbClr val="101F37"/>
                </a:solidFill>
                <a:latin typeface="Aptos"/>
              </a:rPr>
              <a:t>لا حذف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29016" y="2505456"/>
            <a:ext cx="3063240" cy="201168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r" rtl="1"/>
            <a:r>
              <a:rPr sz="900" b="0" lang="ar-SA">
                <a:solidFill>
                  <a:srgbClr val="69798D"/>
                </a:solidFill>
                <a:latin typeface="Aptos"/>
              </a:rPr>
              <a:t>ولا تعويض صامت للسجلات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87552" y="3310128"/>
            <a:ext cx="10040112" cy="6675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625328" y="3566160"/>
            <a:ext cx="118872" cy="118872"/>
          </a:xfrm>
          <a:prstGeom prst="ellipse">
            <a:avLst/>
          </a:prstGeom>
          <a:solidFill>
            <a:srgbClr val="14A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61288" y="3401568"/>
            <a:ext cx="9381744" cy="512064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r" rtl="1"/>
            <a:r>
              <a:rPr sz="1600" b="0" lang="ar-SA">
                <a:solidFill>
                  <a:srgbClr val="233043"/>
                </a:solidFill>
                <a:latin typeface="Aptos"/>
              </a:rPr>
              <a:t>بيانات الاختبار بلا هدف معروف؛ لا يمكن قياس دقتها الفعلية.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87552" y="4087368"/>
            <a:ext cx="10040112" cy="6675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625328" y="4343400"/>
            <a:ext cx="118872" cy="118872"/>
          </a:xfrm>
          <a:prstGeom prst="ellipse">
            <a:avLst/>
          </a:prstGeom>
          <a:solidFill>
            <a:srgbClr val="F0B1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61288" y="4178807"/>
            <a:ext cx="9381744" cy="512064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r" rtl="1"/>
            <a:r>
              <a:rPr sz="1600" b="0" lang="ar-SA">
                <a:solidFill>
                  <a:srgbClr val="233043"/>
                </a:solidFill>
                <a:latin typeface="Aptos"/>
              </a:rPr>
              <a:t>الإيراد التقديري يساوي السعر مضروباً في الطلبات؛ وليس ربحاً.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87552" y="4864608"/>
            <a:ext cx="10040112" cy="6675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625328" y="5120640"/>
            <a:ext cx="118872" cy="118872"/>
          </a:xfrm>
          <a:prstGeom prst="ellipse">
            <a:avLst/>
          </a:prstGeom>
          <a:solidFill>
            <a:srgbClr val="14A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61288" y="4956048"/>
            <a:ext cx="9381744" cy="512064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r" rtl="1"/>
            <a:r>
              <a:rPr sz="1600" b="0" lang="ar-SA">
                <a:solidFill>
                  <a:srgbClr val="233043"/>
                </a:solidFill>
                <a:latin typeface="Aptos"/>
              </a:rPr>
              <a:t>النتائج رصدية؛ قد تؤثر خصائص الوجبة والمركز والتوقيت.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850624" y="0"/>
            <a:ext cx="338328" cy="6858000"/>
          </a:xfrm>
          <a:prstGeom prst="rect">
            <a:avLst/>
          </a:prstGeom>
          <a:solidFill>
            <a:srgbClr val="10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292608"/>
            <a:ext cx="2377440" cy="256032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r" rtl="1"/>
            <a:r>
              <a:rPr sz="1000" b="1" lang="ar-SA">
                <a:solidFill>
                  <a:srgbClr val="14A496"/>
                </a:solidFill>
                <a:latin typeface="Aptos"/>
              </a:rPr>
              <a:t>من الرؤى إلى العمل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30936"/>
            <a:ext cx="10881360" cy="557784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r" rtl="1"/>
            <a:r>
              <a:rPr sz="2500" b="1" lang="ar-SA">
                <a:solidFill>
                  <a:srgbClr val="101F37"/>
                </a:solidFill>
                <a:latin typeface="Aptos"/>
              </a:rPr>
              <a:t>توصيات قابلة للتنفيذ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80160"/>
            <a:ext cx="731520" cy="41148"/>
          </a:xfrm>
          <a:prstGeom prst="rect">
            <a:avLst/>
          </a:prstGeom>
          <a:solidFill>
            <a:srgbClr val="14A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6501384"/>
            <a:ext cx="4572000" cy="182880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r" rtl="1"/>
            <a:r>
              <a:rPr sz="900" b="0" lang="ar-SA">
                <a:solidFill>
                  <a:srgbClr val="69798D"/>
                </a:solidFill>
                <a:latin typeface="Aptos"/>
              </a:rPr>
              <a:t>تحليل الطلب الأسبوعي على الوجبات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502920" cy="228600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ctr"/>
            <a:r>
              <a:rPr sz="900" b="0" lang="en-US">
                <a:solidFill>
                  <a:srgbClr val="69798D"/>
                </a:solidFill>
                <a:latin typeface="Aptos"/>
              </a:rP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" y="1691640"/>
            <a:ext cx="5212080" cy="15727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48656" y="1837944"/>
            <a:ext cx="512064" cy="384048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ctr"/>
            <a:r>
              <a:rPr sz="1800" b="1" lang="en-US">
                <a:solidFill>
                  <a:srgbClr val="14A496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874520"/>
            <a:ext cx="4069080" cy="365760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r" rtl="1"/>
            <a:r>
              <a:rPr sz="1900" b="1" lang="ar-SA">
                <a:solidFill>
                  <a:srgbClr val="101F37"/>
                </a:solidFill>
                <a:latin typeface="Aptos"/>
              </a:rPr>
              <a:t>تخطيط الإمداد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331720"/>
            <a:ext cx="4617720" cy="731520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r" rtl="1"/>
            <a:r>
              <a:rPr sz="1400" b="0" lang="ar-SA">
                <a:solidFill>
                  <a:srgbClr val="233043"/>
                </a:solidFill>
                <a:latin typeface="Aptos"/>
              </a:rPr>
              <a:t>استخدم حصص الفئات والمراكز لتوجيه المخزون والطاقة، مع متابعة المتوسط لكل سجل.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64224" y="1691640"/>
            <a:ext cx="5212080" cy="15727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826496" y="1837944"/>
            <a:ext cx="512064" cy="384048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ctr"/>
            <a:r>
              <a:rPr sz="1800" b="1" lang="en-US">
                <a:solidFill>
                  <a:srgbClr val="F0B14D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1874520"/>
            <a:ext cx="4069080" cy="365760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r" rtl="1"/>
            <a:r>
              <a:rPr sz="1900" b="1" lang="ar-SA">
                <a:solidFill>
                  <a:srgbClr val="101F37"/>
                </a:solidFill>
                <a:latin typeface="Aptos"/>
              </a:rPr>
              <a:t>اختبار العروض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331720"/>
            <a:ext cx="4617720" cy="731520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r" rtl="1"/>
            <a:r>
              <a:rPr sz="1400" b="0" lang="ar-SA">
                <a:solidFill>
                  <a:srgbClr val="233043"/>
                </a:solidFill>
                <a:latin typeface="Aptos"/>
              </a:rPr>
              <a:t>نفّذ تجربة مضبوطة تقيس الزيادة الصافية في الطلب والتكلفة قبل التوسع.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6384" y="3593592"/>
            <a:ext cx="5212080" cy="15727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48656" y="3739896"/>
            <a:ext cx="512064" cy="384048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ctr"/>
            <a:r>
              <a:rPr sz="1800" b="1" lang="en-US">
                <a:solidFill>
                  <a:srgbClr val="14A496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776472"/>
            <a:ext cx="4069080" cy="365760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r" rtl="1"/>
            <a:r>
              <a:rPr sz="1900" b="1" lang="ar-SA">
                <a:solidFill>
                  <a:srgbClr val="101F37"/>
                </a:solidFill>
                <a:latin typeface="Aptos"/>
              </a:rPr>
              <a:t>مراقبة أسبوعية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233672"/>
            <a:ext cx="4617720" cy="731520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r" rtl="1"/>
            <a:r>
              <a:rPr sz="1400" b="0" lang="ar-SA">
                <a:solidFill>
                  <a:srgbClr val="233043"/>
                </a:solidFill>
                <a:latin typeface="Aptos"/>
              </a:rPr>
              <a:t>تابع الطلب ومزيج الفئات والخصومات لاكتشاف التغيرات مبكراً.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64224" y="3593592"/>
            <a:ext cx="5212080" cy="15727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826496" y="3739896"/>
            <a:ext cx="512064" cy="384048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ctr"/>
            <a:r>
              <a:rPr sz="1800" b="1" lang="en-US">
                <a:solidFill>
                  <a:srgbClr val="F0B14D"/>
                </a:solidFill>
                <a:latin typeface="Apto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3776472"/>
            <a:ext cx="4069080" cy="365760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r" rtl="1"/>
            <a:r>
              <a:rPr sz="1900" b="1" lang="ar-SA">
                <a:solidFill>
                  <a:srgbClr val="101F37"/>
                </a:solidFill>
                <a:latin typeface="Aptos"/>
              </a:rPr>
              <a:t>حوكمة التنبؤ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4233672"/>
            <a:ext cx="4617720" cy="731520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r" rtl="1"/>
            <a:r>
              <a:rPr sz="1400" b="0" lang="ar-SA">
                <a:solidFill>
                  <a:srgbClr val="233043"/>
                </a:solidFill>
                <a:latin typeface="Aptos"/>
              </a:rPr>
              <a:t>راقب MAE زمنياً وجدّد تقييم النموذج عند ورود أسابيع جديدة.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60120" y="5724144"/>
            <a:ext cx="10012680" cy="493776"/>
          </a:xfrm>
          <a:prstGeom prst="roundRect">
            <a:avLst/>
          </a:prstGeom>
          <a:solidFill>
            <a:srgbClr val="E9E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5797296"/>
            <a:ext cx="9646920" cy="310896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r" rtl="1"/>
            <a:r>
              <a:rPr sz="1300" b="1" lang="ar-SA">
                <a:solidFill>
                  <a:srgbClr val="101F37"/>
                </a:solidFill>
                <a:latin typeface="Aptos"/>
              </a:rPr>
              <a:t>الخلاصة: الأنماط تحدد فرصاً واعدة للاختبار، لكنها لا تثبت وحدها أسباب زيادة الطلب.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850624" y="0"/>
            <a:ext cx="338328" cy="6858000"/>
          </a:xfrm>
          <a:prstGeom prst="rect">
            <a:avLst/>
          </a:prstGeom>
          <a:solidFill>
            <a:srgbClr val="10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292608"/>
            <a:ext cx="2377440" cy="256032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r" rtl="1"/>
            <a:r>
              <a:rPr sz="1000" b="1" lang="ar-SA">
                <a:solidFill>
                  <a:srgbClr val="14A496"/>
                </a:solidFill>
                <a:latin typeface="Aptos"/>
              </a:rPr>
              <a:t>نتائج النموذج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30936"/>
            <a:ext cx="10881360" cy="557784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r" rtl="1"/>
            <a:r>
              <a:rPr sz="2500" b="1" lang="ar-SA">
                <a:solidFill>
                  <a:srgbClr val="101F37"/>
                </a:solidFill>
                <a:latin typeface="Aptos"/>
              </a:rPr>
              <a:t>التنبؤ: مقارنة زمنية عادلة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80160"/>
            <a:ext cx="731520" cy="41148"/>
          </a:xfrm>
          <a:prstGeom prst="rect">
            <a:avLst/>
          </a:prstGeom>
          <a:solidFill>
            <a:srgbClr val="14A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6501384"/>
            <a:ext cx="4572000" cy="182880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r" rtl="1"/>
            <a:r>
              <a:rPr sz="900" b="0" lang="ar-SA">
                <a:solidFill>
                  <a:srgbClr val="69798D"/>
                </a:solidFill>
                <a:latin typeface="Aptos"/>
              </a:rPr>
              <a:t>تحليل الطلب الأسبوعي على الوجبات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502920" cy="228600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ctr"/>
            <a:r>
              <a:rPr sz="900" b="0" lang="en-US">
                <a:solidFill>
                  <a:srgbClr val="69798D"/>
                </a:solidFill>
                <a:latin typeface="Aptos"/>
              </a:rPr>
              <a:t>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8096" y="1691640"/>
            <a:ext cx="3401568" cy="119786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087368" y="1801368"/>
            <a:ext cx="41148" cy="969264"/>
          </a:xfrm>
          <a:prstGeom prst="rect">
            <a:avLst/>
          </a:prstGeom>
          <a:solidFill>
            <a:srgbClr val="14A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1801368"/>
            <a:ext cx="3063240" cy="256032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r" rtl="1"/>
            <a:r>
              <a:rPr sz="1100" b="0" lang="ar-SA">
                <a:solidFill>
                  <a:srgbClr val="69798D"/>
                </a:solidFill>
                <a:latin typeface="Aptos"/>
              </a:rPr>
              <a:t>أفضل نموذج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057400"/>
            <a:ext cx="3063240" cy="438912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r" rtl="1"/>
            <a:r>
              <a:rPr sz="2400" b="1" lang="ar-SA">
                <a:solidFill>
                  <a:srgbClr val="101F37"/>
                </a:solidFill>
                <a:latin typeface="Aptos"/>
              </a:rPr>
              <a:t>الغابة العشوائية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2523744"/>
            <a:ext cx="3063240" cy="201168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r" rtl="1"/>
            <a:r>
              <a:rPr sz="900" b="0" lang="ar-SA">
                <a:solidFill>
                  <a:srgbClr val="69798D"/>
                </a:solidFill>
                <a:latin typeface="Aptos"/>
              </a:rPr>
              <a:t>اختير بناءً على MAE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691640"/>
            <a:ext cx="3401568" cy="119786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08392" y="1801368"/>
            <a:ext cx="41148" cy="969264"/>
          </a:xfrm>
          <a:prstGeom prst="rect">
            <a:avLst/>
          </a:prstGeom>
          <a:solidFill>
            <a:srgbClr val="F0B1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07992" y="1801368"/>
            <a:ext cx="3063240" cy="256032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r" rtl="1"/>
            <a:r>
              <a:rPr sz="1100" b="0" lang="ar-SA">
                <a:solidFill>
                  <a:srgbClr val="69798D"/>
                </a:solidFill>
                <a:latin typeface="Aptos"/>
              </a:rPr>
              <a:t>MAE للتحقق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07992" y="2057400"/>
            <a:ext cx="3063240" cy="438912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r" rtl="1"/>
            <a:r>
              <a:rPr sz="2400" b="1" lang="ar-SA">
                <a:solidFill>
                  <a:srgbClr val="101F37"/>
                </a:solidFill>
                <a:latin typeface="Aptos"/>
              </a:rPr>
              <a:t>75.15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07992" y="2523744"/>
            <a:ext cx="3063240" cy="201168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r" rtl="1"/>
            <a:r>
              <a:rPr sz="900" b="0" lang="ar-SA">
                <a:solidFill>
                  <a:srgbClr val="69798D"/>
                </a:solidFill>
                <a:latin typeface="Aptos"/>
              </a:rPr>
              <a:t>متوسط الخطأ المطلق بالطلبات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10144" y="1691640"/>
            <a:ext cx="3401568" cy="119786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329416" y="1801368"/>
            <a:ext cx="41148" cy="969264"/>
          </a:xfrm>
          <a:prstGeom prst="rect">
            <a:avLst/>
          </a:prstGeom>
          <a:solidFill>
            <a:srgbClr val="14A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29016" y="1801368"/>
            <a:ext cx="3063240" cy="256032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r" rtl="1"/>
            <a:r>
              <a:rPr sz="1100" b="0" lang="ar-SA">
                <a:solidFill>
                  <a:srgbClr val="69798D"/>
                </a:solidFill>
                <a:latin typeface="Aptos"/>
              </a:rPr>
              <a:t>RMSE للتحقق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29016" y="2057400"/>
            <a:ext cx="3063240" cy="438912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r" rtl="1"/>
            <a:r>
              <a:rPr sz="2400" b="1" lang="ar-SA">
                <a:solidFill>
                  <a:srgbClr val="101F37"/>
                </a:solidFill>
                <a:latin typeface="Aptos"/>
              </a:rPr>
              <a:t>120.36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29016" y="2523744"/>
            <a:ext cx="3063240" cy="201168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r" rtl="1"/>
            <a:r>
              <a:rPr sz="900" b="0" lang="ar-SA">
                <a:solidFill>
                  <a:srgbClr val="69798D"/>
                </a:solidFill>
                <a:latin typeface="Aptos"/>
              </a:rPr>
              <a:t>جذر متوسط مربع الخطأ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6" y="3328416"/>
            <a:ext cx="4572000" cy="384048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r" rtl="1"/>
            <a:r>
              <a:rPr sz="1900" b="1" lang="ar-SA">
                <a:solidFill>
                  <a:srgbClr val="101F37"/>
                </a:solidFill>
                <a:latin typeface="Aptos"/>
              </a:rPr>
              <a:t>تقسيم زمني يمنع تسرب المستقبل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9536" y="3822191"/>
            <a:ext cx="507492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78992" y="3977639"/>
            <a:ext cx="4526280" cy="347472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r" rtl="1"/>
            <a:r>
              <a:rPr sz="1600" b="1" lang="ar-SA">
                <a:solidFill>
                  <a:srgbClr val="233043"/>
                </a:solidFill>
                <a:latin typeface="Aptos"/>
              </a:rPr>
              <a:t>تدريب: الأسابيع 1–135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8992" y="4462272"/>
            <a:ext cx="4526280" cy="347472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r" rtl="1"/>
            <a:r>
              <a:rPr sz="1600" b="1" lang="ar-SA">
                <a:solidFill>
                  <a:srgbClr val="233043"/>
                </a:solidFill>
                <a:latin typeface="Aptos"/>
              </a:rPr>
              <a:t>تحقق: الأسابيع 136–145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91072" y="3621024"/>
            <a:ext cx="4718304" cy="749808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r" rtl="1"/>
            <a:r>
              <a:rPr sz="1700" b="0" lang="ar-SA">
                <a:solidFill>
                  <a:srgbClr val="233043"/>
                </a:solidFill>
                <a:latin typeface="Aptos"/>
              </a:rPr>
              <a:t>إعادة تدريب على كامل البيانات ثم توقع أسابيع الاختبار 146–155.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91072" y="4590288"/>
            <a:ext cx="4718304" cy="749808"/>
          </a:xfrm>
          <a:prstGeom prst="roundRect">
            <a:avLst/>
          </a:prstGeom>
          <a:solidFill>
            <a:srgbClr val="E5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4736592"/>
            <a:ext cx="4334256" cy="420624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r" rtl="1"/>
            <a:r>
              <a:rPr sz="1300" b="1" lang="ar-SA">
                <a:solidFill>
                  <a:srgbClr val="101F37"/>
                </a:solidFill>
                <a:latin typeface="Aptos"/>
              </a:rPr>
              <a:t>لا تتوفر أهداف الاختبار؛ لذلك لا توجد درجة أداء نهائية.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تحليل الطلب الأسبوعي على الوجبات</dc:title>
  <dc:subject>تحليل البيانات، العروض، التنبؤ والتوصيات</dc:subject>
  <dc:creator>مشروع تحليل بيانات الطلب</dc:creator>
  <cp:keywords>تحليل بيانات، طلب الوجبات، توقع الطلب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